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 name="Google Shape;2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g3c4411e72_01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 name="Google Shape;31;g3c4411e72_0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g3c4411e72_0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 name="Google Shape;38;g3c4411e72_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g3c4411e72_03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 name="Google Shape;45;g3c4411e72_0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c4411e72_07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c4411e72_0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685800" y="1583342"/>
            <a:ext cx="7772400" cy="1159856"/>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0" name="Google Shape;10;p2"/>
          <p:cNvSpPr txBox="1"/>
          <p:nvPr>
            <p:ph idx="1" type="subTitle"/>
          </p:nvPr>
        </p:nvSpPr>
        <p:spPr>
          <a:xfrm>
            <a:off x="685800" y="2840054"/>
            <a:ext cx="7772400" cy="784738"/>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3000"/>
              <a:buNone/>
              <a:defRPr>
                <a:solidFill>
                  <a:schemeClr val="dk2"/>
                </a:solidFill>
              </a:defRPr>
            </a:lvl1pPr>
            <a:lvl2pPr lvl="1" algn="ctr">
              <a:spcBef>
                <a:spcPts val="0"/>
              </a:spcBef>
              <a:spcAft>
                <a:spcPts val="0"/>
              </a:spcAft>
              <a:buClr>
                <a:schemeClr val="dk2"/>
              </a:buClr>
              <a:buSzPts val="3000"/>
              <a:buNone/>
              <a:defRPr sz="3000">
                <a:solidFill>
                  <a:schemeClr val="dk2"/>
                </a:solidFill>
              </a:defRPr>
            </a:lvl2pPr>
            <a:lvl3pPr lvl="2" algn="ctr">
              <a:spcBef>
                <a:spcPts val="0"/>
              </a:spcBef>
              <a:spcAft>
                <a:spcPts val="0"/>
              </a:spcAft>
              <a:buClr>
                <a:schemeClr val="dk2"/>
              </a:buClr>
              <a:buSzPts val="3000"/>
              <a:buNone/>
              <a:defRPr sz="3000">
                <a:solidFill>
                  <a:schemeClr val="dk2"/>
                </a:solidFill>
              </a:defRPr>
            </a:lvl3pPr>
            <a:lvl4pPr lvl="3" algn="ctr">
              <a:spcBef>
                <a:spcPts val="0"/>
              </a:spcBef>
              <a:spcAft>
                <a:spcPts val="0"/>
              </a:spcAft>
              <a:buClr>
                <a:schemeClr val="dk2"/>
              </a:buClr>
              <a:buSzPts val="3000"/>
              <a:buNone/>
              <a:defRPr sz="3000">
                <a:solidFill>
                  <a:schemeClr val="dk2"/>
                </a:solidFill>
              </a:defRPr>
            </a:lvl4pPr>
            <a:lvl5pPr lvl="4" algn="ctr">
              <a:spcBef>
                <a:spcPts val="0"/>
              </a:spcBef>
              <a:spcAft>
                <a:spcPts val="0"/>
              </a:spcAft>
              <a:buClr>
                <a:schemeClr val="dk2"/>
              </a:buClr>
              <a:buSzPts val="3000"/>
              <a:buNone/>
              <a:defRPr sz="3000">
                <a:solidFill>
                  <a:schemeClr val="dk2"/>
                </a:solidFill>
              </a:defRPr>
            </a:lvl5pPr>
            <a:lvl6pPr lvl="5" algn="ctr">
              <a:spcBef>
                <a:spcPts val="0"/>
              </a:spcBef>
              <a:spcAft>
                <a:spcPts val="0"/>
              </a:spcAft>
              <a:buClr>
                <a:schemeClr val="dk2"/>
              </a:buClr>
              <a:buSzPts val="3000"/>
              <a:buNone/>
              <a:defRPr sz="3000">
                <a:solidFill>
                  <a:schemeClr val="dk2"/>
                </a:solidFill>
              </a:defRPr>
            </a:lvl6pPr>
            <a:lvl7pPr lvl="6" algn="ctr">
              <a:spcBef>
                <a:spcPts val="0"/>
              </a:spcBef>
              <a:spcAft>
                <a:spcPts val="0"/>
              </a:spcAft>
              <a:buClr>
                <a:schemeClr val="dk2"/>
              </a:buClr>
              <a:buSzPts val="3000"/>
              <a:buNone/>
              <a:defRPr sz="3000">
                <a:solidFill>
                  <a:schemeClr val="dk2"/>
                </a:solidFill>
              </a:defRPr>
            </a:lvl7pPr>
            <a:lvl8pPr lvl="7" algn="ctr">
              <a:spcBef>
                <a:spcPts val="0"/>
              </a:spcBef>
              <a:spcAft>
                <a:spcPts val="0"/>
              </a:spcAft>
              <a:buClr>
                <a:schemeClr val="dk2"/>
              </a:buClr>
              <a:buSzPts val="3000"/>
              <a:buNone/>
              <a:defRPr sz="3000">
                <a:solidFill>
                  <a:schemeClr val="dk2"/>
                </a:solidFill>
              </a:defRPr>
            </a:lvl8pPr>
            <a:lvl9pPr lvl="8" algn="ctr">
              <a:spcBef>
                <a:spcPts val="0"/>
              </a:spcBef>
              <a:spcAft>
                <a:spcPts val="0"/>
              </a:spcAft>
              <a:buClr>
                <a:schemeClr val="dk2"/>
              </a:buClr>
              <a:buSzPts val="3000"/>
              <a:buNone/>
              <a:defRPr sz="3000">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3"/>
          <p:cNvSpPr txBox="1"/>
          <p:nvPr>
            <p:ph type="title"/>
          </p:nvPr>
        </p:nvSpPr>
        <p:spPr>
          <a:xfrm>
            <a:off x="457200" y="205978"/>
            <a:ext cx="8229600" cy="85725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3" name="Google Shape;13;p3"/>
          <p:cNvSpPr txBox="1"/>
          <p:nvPr>
            <p:ph idx="1" type="body"/>
          </p:nvPr>
        </p:nvSpPr>
        <p:spPr>
          <a:xfrm>
            <a:off x="457200" y="1200150"/>
            <a:ext cx="8229600" cy="3725681"/>
          </a:xfrm>
          <a:prstGeom prst="rect">
            <a:avLst/>
          </a:prstGeom>
        </p:spPr>
        <p:txBody>
          <a:bodyPr anchorCtr="0" anchor="t" bIns="91425" lIns="91425" spcFirstLastPara="1" rIns="91425" wrap="square" tIns="91425">
            <a:noAutofit/>
          </a:bodyPr>
          <a:lstStyle>
            <a:lvl1pPr indent="-419100" lvl="0" marL="457200">
              <a:spcBef>
                <a:spcPts val="600"/>
              </a:spcBef>
              <a:spcAft>
                <a:spcPts val="0"/>
              </a:spcAft>
              <a:buSzPts val="30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 name="Shape 14"/>
        <p:cNvGrpSpPr/>
        <p:nvPr/>
      </p:nvGrpSpPr>
      <p:grpSpPr>
        <a:xfrm>
          <a:off x="0" y="0"/>
          <a:ext cx="0" cy="0"/>
          <a:chOff x="0" y="0"/>
          <a:chExt cx="0" cy="0"/>
        </a:xfrm>
      </p:grpSpPr>
      <p:sp>
        <p:nvSpPr>
          <p:cNvPr id="15" name="Google Shape;15;p4"/>
          <p:cNvSpPr txBox="1"/>
          <p:nvPr>
            <p:ph type="title"/>
          </p:nvPr>
        </p:nvSpPr>
        <p:spPr>
          <a:xfrm>
            <a:off x="457200" y="205978"/>
            <a:ext cx="8229600" cy="85725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6" name="Google Shape;16;p4"/>
          <p:cNvSpPr txBox="1"/>
          <p:nvPr>
            <p:ph idx="1" type="body"/>
          </p:nvPr>
        </p:nvSpPr>
        <p:spPr>
          <a:xfrm>
            <a:off x="457200" y="1200150"/>
            <a:ext cx="3994526" cy="3725681"/>
          </a:xfrm>
          <a:prstGeom prst="rect">
            <a:avLst/>
          </a:prstGeom>
        </p:spPr>
        <p:txBody>
          <a:bodyPr anchorCtr="0" anchor="t" bIns="91425" lIns="91425" spcFirstLastPara="1" rIns="91425" wrap="square" tIns="91425">
            <a:noAutofit/>
          </a:bodyPr>
          <a:lstStyle>
            <a:lvl1pPr indent="-419100" lvl="0" marL="457200">
              <a:spcBef>
                <a:spcPts val="600"/>
              </a:spcBef>
              <a:spcAft>
                <a:spcPts val="0"/>
              </a:spcAft>
              <a:buSzPts val="30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7" name="Google Shape;17;p4"/>
          <p:cNvSpPr txBox="1"/>
          <p:nvPr>
            <p:ph idx="2" type="body"/>
          </p:nvPr>
        </p:nvSpPr>
        <p:spPr>
          <a:xfrm>
            <a:off x="4692274" y="1200150"/>
            <a:ext cx="3994526" cy="3725681"/>
          </a:xfrm>
          <a:prstGeom prst="rect">
            <a:avLst/>
          </a:prstGeom>
        </p:spPr>
        <p:txBody>
          <a:bodyPr anchorCtr="0" anchor="t" bIns="91425" lIns="91425" spcFirstLastPara="1" rIns="91425" wrap="square" tIns="91425">
            <a:noAutofit/>
          </a:bodyPr>
          <a:lstStyle>
            <a:lvl1pPr indent="-419100" lvl="0" marL="457200">
              <a:spcBef>
                <a:spcPts val="600"/>
              </a:spcBef>
              <a:spcAft>
                <a:spcPts val="0"/>
              </a:spcAft>
              <a:buSzPts val="30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 name="Shape 18"/>
        <p:cNvGrpSpPr/>
        <p:nvPr/>
      </p:nvGrpSpPr>
      <p:grpSpPr>
        <a:xfrm>
          <a:off x="0" y="0"/>
          <a:ext cx="0" cy="0"/>
          <a:chOff x="0" y="0"/>
          <a:chExt cx="0" cy="0"/>
        </a:xfrm>
      </p:grpSpPr>
      <p:sp>
        <p:nvSpPr>
          <p:cNvPr id="19" name="Google Shape;19;p5"/>
          <p:cNvSpPr txBox="1"/>
          <p:nvPr>
            <p:ph type="title"/>
          </p:nvPr>
        </p:nvSpPr>
        <p:spPr>
          <a:xfrm>
            <a:off x="457200" y="205978"/>
            <a:ext cx="8229600" cy="85725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 name="Shape 20"/>
        <p:cNvGrpSpPr/>
        <p:nvPr/>
      </p:nvGrpSpPr>
      <p:grpSpPr>
        <a:xfrm>
          <a:off x="0" y="0"/>
          <a:ext cx="0" cy="0"/>
          <a:chOff x="0" y="0"/>
          <a:chExt cx="0" cy="0"/>
        </a:xfrm>
      </p:grpSpPr>
      <p:sp>
        <p:nvSpPr>
          <p:cNvPr id="21" name="Google Shape;21;p6"/>
          <p:cNvSpPr txBox="1"/>
          <p:nvPr>
            <p:ph idx="1" type="body"/>
          </p:nvPr>
        </p:nvSpPr>
        <p:spPr>
          <a:xfrm>
            <a:off x="457200" y="4406309"/>
            <a:ext cx="8229600" cy="519520"/>
          </a:xfrm>
          <a:prstGeom prst="rect">
            <a:avLst/>
          </a:prstGeom>
        </p:spPr>
        <p:txBody>
          <a:bodyPr anchorCtr="0" anchor="t" bIns="91425" lIns="91425" spcFirstLastPara="1" rIns="91425" wrap="square" tIns="91425">
            <a:noAutofit/>
          </a:bodyPr>
          <a:lstStyle>
            <a:lvl1pPr indent="-228600" lvl="0" marL="457200" algn="ctr">
              <a:spcBef>
                <a:spcPts val="360"/>
              </a:spcBef>
              <a:spcAft>
                <a:spcPts val="0"/>
              </a:spcAft>
              <a:buSzPts val="1800"/>
              <a:buNone/>
              <a:defRPr sz="1800"/>
            </a:lvl1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 name="Shape 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05978"/>
            <a:ext cx="8229600" cy="85725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3600"/>
              <a:buNone/>
              <a:defRPr b="1" sz="3600">
                <a:solidFill>
                  <a:schemeClr val="dk1"/>
                </a:solidFill>
              </a:defRPr>
            </a:lvl1pPr>
            <a:lvl2pPr lvl="1">
              <a:spcBef>
                <a:spcPts val="0"/>
              </a:spcBef>
              <a:spcAft>
                <a:spcPts val="0"/>
              </a:spcAft>
              <a:buClr>
                <a:schemeClr val="dk1"/>
              </a:buClr>
              <a:buSzPts val="3600"/>
              <a:buNone/>
              <a:defRPr b="1" sz="3600">
                <a:solidFill>
                  <a:schemeClr val="dk1"/>
                </a:solidFill>
              </a:defRPr>
            </a:lvl2pPr>
            <a:lvl3pPr lvl="2">
              <a:spcBef>
                <a:spcPts val="0"/>
              </a:spcBef>
              <a:spcAft>
                <a:spcPts val="0"/>
              </a:spcAft>
              <a:buClr>
                <a:schemeClr val="dk1"/>
              </a:buClr>
              <a:buSzPts val="3600"/>
              <a:buNone/>
              <a:defRPr b="1" sz="3600">
                <a:solidFill>
                  <a:schemeClr val="dk1"/>
                </a:solidFill>
              </a:defRPr>
            </a:lvl3pPr>
            <a:lvl4pPr lvl="3">
              <a:spcBef>
                <a:spcPts val="0"/>
              </a:spcBef>
              <a:spcAft>
                <a:spcPts val="0"/>
              </a:spcAft>
              <a:buClr>
                <a:schemeClr val="dk1"/>
              </a:buClr>
              <a:buSzPts val="3600"/>
              <a:buNone/>
              <a:defRPr b="1" sz="3600">
                <a:solidFill>
                  <a:schemeClr val="dk1"/>
                </a:solidFill>
              </a:defRPr>
            </a:lvl4pPr>
            <a:lvl5pPr lvl="4">
              <a:spcBef>
                <a:spcPts val="0"/>
              </a:spcBef>
              <a:spcAft>
                <a:spcPts val="0"/>
              </a:spcAft>
              <a:buClr>
                <a:schemeClr val="dk1"/>
              </a:buClr>
              <a:buSzPts val="3600"/>
              <a:buNone/>
              <a:defRPr b="1" sz="3600">
                <a:solidFill>
                  <a:schemeClr val="dk1"/>
                </a:solidFill>
              </a:defRPr>
            </a:lvl5pPr>
            <a:lvl6pPr lvl="5">
              <a:spcBef>
                <a:spcPts val="0"/>
              </a:spcBef>
              <a:spcAft>
                <a:spcPts val="0"/>
              </a:spcAft>
              <a:buClr>
                <a:schemeClr val="dk1"/>
              </a:buClr>
              <a:buSzPts val="3600"/>
              <a:buNone/>
              <a:defRPr b="1" sz="3600">
                <a:solidFill>
                  <a:schemeClr val="dk1"/>
                </a:solidFill>
              </a:defRPr>
            </a:lvl6pPr>
            <a:lvl7pPr lvl="6">
              <a:spcBef>
                <a:spcPts val="0"/>
              </a:spcBef>
              <a:spcAft>
                <a:spcPts val="0"/>
              </a:spcAft>
              <a:buClr>
                <a:schemeClr val="dk1"/>
              </a:buClr>
              <a:buSzPts val="3600"/>
              <a:buNone/>
              <a:defRPr b="1" sz="3600">
                <a:solidFill>
                  <a:schemeClr val="dk1"/>
                </a:solidFill>
              </a:defRPr>
            </a:lvl7pPr>
            <a:lvl8pPr lvl="7">
              <a:spcBef>
                <a:spcPts val="0"/>
              </a:spcBef>
              <a:spcAft>
                <a:spcPts val="0"/>
              </a:spcAft>
              <a:buClr>
                <a:schemeClr val="dk1"/>
              </a:buClr>
              <a:buSzPts val="3600"/>
              <a:buNone/>
              <a:defRPr b="1" sz="3600">
                <a:solidFill>
                  <a:schemeClr val="dk1"/>
                </a:solidFill>
              </a:defRPr>
            </a:lvl8pPr>
            <a:lvl9pPr lvl="8">
              <a:spcBef>
                <a:spcPts val="0"/>
              </a:spcBef>
              <a:spcAft>
                <a:spcPts val="0"/>
              </a:spcAft>
              <a:buClr>
                <a:schemeClr val="dk1"/>
              </a:buClr>
              <a:buSzPts val="3600"/>
              <a:buNone/>
              <a:defRPr b="1" sz="3600">
                <a:solidFill>
                  <a:schemeClr val="dk1"/>
                </a:solidFill>
              </a:defRPr>
            </a:lvl9pPr>
          </a:lstStyle>
          <a:p/>
        </p:txBody>
      </p:sp>
      <p:sp>
        <p:nvSpPr>
          <p:cNvPr id="7" name="Google Shape;7;p1"/>
          <p:cNvSpPr txBox="1"/>
          <p:nvPr>
            <p:ph idx="1" type="body"/>
          </p:nvPr>
        </p:nvSpPr>
        <p:spPr>
          <a:xfrm>
            <a:off x="457200" y="1200150"/>
            <a:ext cx="8229600" cy="3725681"/>
          </a:xfrm>
          <a:prstGeom prst="rect">
            <a:avLst/>
          </a:prstGeom>
          <a:noFill/>
          <a:ln>
            <a:noFill/>
          </a:ln>
        </p:spPr>
        <p:txBody>
          <a:bodyPr anchorCtr="0" anchor="t" bIns="91425" lIns="91425" spcFirstLastPara="1" rIns="91425" wrap="square" tIns="91425">
            <a:noAutofit/>
          </a:bodyPr>
          <a:lstStyle>
            <a:lvl1pPr indent="-419100" lvl="0" marL="457200">
              <a:spcBef>
                <a:spcPts val="600"/>
              </a:spcBef>
              <a:spcAft>
                <a:spcPts val="0"/>
              </a:spcAft>
              <a:buClr>
                <a:schemeClr val="dk1"/>
              </a:buClr>
              <a:buSzPts val="3000"/>
              <a:buChar char="●"/>
              <a:defRPr sz="3000">
                <a:solidFill>
                  <a:schemeClr val="dk1"/>
                </a:solidFill>
              </a:defRPr>
            </a:lvl1pPr>
            <a:lvl2pPr indent="-381000" lvl="1" marL="914400">
              <a:spcBef>
                <a:spcPts val="0"/>
              </a:spcBef>
              <a:spcAft>
                <a:spcPts val="0"/>
              </a:spcAft>
              <a:buClr>
                <a:schemeClr val="dk1"/>
              </a:buClr>
              <a:buSzPts val="2400"/>
              <a:buChar char="○"/>
              <a:defRPr sz="2400">
                <a:solidFill>
                  <a:schemeClr val="dk1"/>
                </a:solidFill>
              </a:defRPr>
            </a:lvl2pPr>
            <a:lvl3pPr indent="-381000" lvl="2" marL="1371600">
              <a:spcBef>
                <a:spcPts val="0"/>
              </a:spcBef>
              <a:spcAft>
                <a:spcPts val="0"/>
              </a:spcAft>
              <a:buClr>
                <a:schemeClr val="dk1"/>
              </a:buClr>
              <a:buSzPts val="2400"/>
              <a:buChar char="■"/>
              <a:defRPr sz="2400">
                <a:solidFill>
                  <a:schemeClr val="dk1"/>
                </a:solidFill>
              </a:defRPr>
            </a:lvl3pPr>
            <a:lvl4pPr indent="-342900" lvl="3" marL="1828800">
              <a:spcBef>
                <a:spcPts val="0"/>
              </a:spcBef>
              <a:spcAft>
                <a:spcPts val="0"/>
              </a:spcAft>
              <a:buClr>
                <a:schemeClr val="dk1"/>
              </a:buClr>
              <a:buSzPts val="1800"/>
              <a:buChar char="●"/>
              <a:defRPr sz="1800">
                <a:solidFill>
                  <a:schemeClr val="dk1"/>
                </a:solidFill>
              </a:defRPr>
            </a:lvl4pPr>
            <a:lvl5pPr indent="-342900" lvl="4" marL="2286000">
              <a:spcBef>
                <a:spcPts val="0"/>
              </a:spcBef>
              <a:spcAft>
                <a:spcPts val="0"/>
              </a:spcAft>
              <a:buClr>
                <a:schemeClr val="dk1"/>
              </a:buClr>
              <a:buSzPts val="1800"/>
              <a:buChar char="○"/>
              <a:defRPr sz="1800">
                <a:solidFill>
                  <a:schemeClr val="dk1"/>
                </a:solidFill>
              </a:defRPr>
            </a:lvl5pPr>
            <a:lvl6pPr indent="-342900" lvl="5" marL="2743200">
              <a:spcBef>
                <a:spcPts val="0"/>
              </a:spcBef>
              <a:spcAft>
                <a:spcPts val="0"/>
              </a:spcAft>
              <a:buClr>
                <a:schemeClr val="dk1"/>
              </a:buClr>
              <a:buSzPts val="1800"/>
              <a:buChar char="■"/>
              <a:defRPr sz="1800">
                <a:solidFill>
                  <a:schemeClr val="dk1"/>
                </a:solidFill>
              </a:defRPr>
            </a:lvl6pPr>
            <a:lvl7pPr indent="-342900" lvl="6" marL="3200400">
              <a:spcBef>
                <a:spcPts val="0"/>
              </a:spcBef>
              <a:spcAft>
                <a:spcPts val="0"/>
              </a:spcAft>
              <a:buClr>
                <a:schemeClr val="dk1"/>
              </a:buClr>
              <a:buSzPts val="1800"/>
              <a:buChar char="●"/>
              <a:defRPr sz="1800">
                <a:solidFill>
                  <a:schemeClr val="dk1"/>
                </a:solidFill>
              </a:defRPr>
            </a:lvl7pPr>
            <a:lvl8pPr indent="-342900" lvl="7" marL="3657600">
              <a:spcBef>
                <a:spcPts val="0"/>
              </a:spcBef>
              <a:spcAft>
                <a:spcPts val="0"/>
              </a:spcAft>
              <a:buClr>
                <a:schemeClr val="dk1"/>
              </a:buClr>
              <a:buSzPts val="1800"/>
              <a:buChar char="○"/>
              <a:defRPr sz="1800">
                <a:solidFill>
                  <a:schemeClr val="dk1"/>
                </a:solidFill>
              </a:defRPr>
            </a:lvl8pPr>
            <a:lvl9pPr indent="-342900" lvl="8" marL="4114800">
              <a:spcBef>
                <a:spcPts val="0"/>
              </a:spcBef>
              <a:spcAft>
                <a:spcPts val="0"/>
              </a:spcAft>
              <a:buClr>
                <a:schemeClr val="dk1"/>
              </a:buClr>
              <a:buSzPts val="1800"/>
              <a:buChar char="■"/>
              <a:defRPr sz="1800">
                <a:solidFill>
                  <a:schemeClr val="dk1"/>
                </a:solidFil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hyperlink" Target="http://martinfowler.com/eaaDev/SupervisingPresenter.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hyperlink" Target="http://martinfowler.com/eaaDev/PassiveScreen.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hyperlink" Target="https://drive.google.com/?tab=mo&amp;authuser=0#folders/0B_hbVwmxzLU7UjlpUHVIRHZrV0U"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github.com/angular-ui/ui-router"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8"/>
          <p:cNvSpPr txBox="1"/>
          <p:nvPr>
            <p:ph type="ctrTitle"/>
          </p:nvPr>
        </p:nvSpPr>
        <p:spPr>
          <a:xfrm>
            <a:off x="685800" y="1583342"/>
            <a:ext cx="7772400" cy="1159856"/>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pt-BR"/>
              <a:t>Arquitetura WebFlow</a:t>
            </a:r>
            <a:endParaRPr/>
          </a:p>
        </p:txBody>
      </p:sp>
      <p:sp>
        <p:nvSpPr>
          <p:cNvPr id="28" name="Google Shape;28;p8"/>
          <p:cNvSpPr txBox="1"/>
          <p:nvPr>
            <p:ph idx="1" type="subTitle"/>
          </p:nvPr>
        </p:nvSpPr>
        <p:spPr>
          <a:xfrm>
            <a:off x="685800" y="2840054"/>
            <a:ext cx="7772400" cy="784738"/>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t-BR"/>
              <a:t>Marcelo Domingos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9"/>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pt-BR"/>
              <a:t>Controle de Supervisionamento</a:t>
            </a:r>
            <a:endParaRPr/>
          </a:p>
        </p:txBody>
      </p:sp>
      <p:pic>
        <p:nvPicPr>
          <p:cNvPr id="34" name="Google Shape;34;p9"/>
          <p:cNvPicPr preferRelativeResize="0"/>
          <p:nvPr/>
        </p:nvPicPr>
        <p:blipFill>
          <a:blip r:embed="rId3">
            <a:alphaModFix/>
          </a:blip>
          <a:stretch>
            <a:fillRect/>
          </a:stretch>
        </p:blipFill>
        <p:spPr>
          <a:xfrm>
            <a:off x="457200" y="1250525"/>
            <a:ext cx="3455425" cy="3534725"/>
          </a:xfrm>
          <a:prstGeom prst="rect">
            <a:avLst/>
          </a:prstGeom>
          <a:noFill/>
          <a:ln>
            <a:noFill/>
          </a:ln>
        </p:spPr>
      </p:pic>
      <p:sp>
        <p:nvSpPr>
          <p:cNvPr id="35" name="Google Shape;35;p9"/>
          <p:cNvSpPr txBox="1"/>
          <p:nvPr/>
        </p:nvSpPr>
        <p:spPr>
          <a:xfrm>
            <a:off x="4409925" y="2013050"/>
            <a:ext cx="4102800" cy="208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100">
                <a:solidFill>
                  <a:schemeClr val="dk1"/>
                </a:solidFill>
                <a:highlight>
                  <a:srgbClr val="EEEEEE"/>
                </a:highlight>
              </a:rPr>
              <a:t>In </a:t>
            </a:r>
            <a:r>
              <a:rPr b="1" lang="pt-BR" sz="1100">
                <a:solidFill>
                  <a:schemeClr val="dk1"/>
                </a:solidFill>
                <a:highlight>
                  <a:srgbClr val="EEEEEE"/>
                </a:highlight>
              </a:rPr>
              <a:t>Supervising Controller</a:t>
            </a:r>
            <a:r>
              <a:rPr lang="pt-BR" sz="1100">
                <a:solidFill>
                  <a:schemeClr val="dk1"/>
                </a:solidFill>
                <a:highlight>
                  <a:srgbClr val="EEEEEE"/>
                </a:highlight>
              </a:rPr>
              <a:t>, the view interacts directly with the model to perform simple data-binding that can be defined declaratively, without presenter intervention. The presenter updates the model; it manipulates the state of the view only in cases where complex UI logic that cannot be specified declaratively is required. Examples of complex UI logic might include changing the color of a control or dynamically hiding/showing controls</a:t>
            </a:r>
            <a:endParaRPr sz="1100">
              <a:solidFill>
                <a:schemeClr val="dk1"/>
              </a:solidFill>
              <a:highlight>
                <a:srgbClr val="EEEEEE"/>
              </a:highlight>
            </a:endParaRPr>
          </a:p>
          <a:p>
            <a:pPr indent="0" lvl="0" marL="0" rtl="0" algn="l">
              <a:spcBef>
                <a:spcPts val="0"/>
              </a:spcBef>
              <a:spcAft>
                <a:spcPts val="0"/>
              </a:spcAft>
              <a:buNone/>
            </a:pPr>
            <a:r>
              <a:t/>
            </a:r>
            <a:endParaRPr sz="1100">
              <a:solidFill>
                <a:schemeClr val="dk1"/>
              </a:solidFill>
              <a:highlight>
                <a:srgbClr val="EEEEEE"/>
              </a:highlight>
            </a:endParaRPr>
          </a:p>
          <a:p>
            <a:pPr indent="0" lvl="0" marL="0" rtl="0" algn="l">
              <a:spcBef>
                <a:spcPts val="0"/>
              </a:spcBef>
              <a:spcAft>
                <a:spcPts val="0"/>
              </a:spcAft>
              <a:buNone/>
            </a:pPr>
            <a:r>
              <a:rPr lang="pt-BR" sz="1100">
                <a:solidFill>
                  <a:schemeClr val="dk1"/>
                </a:solidFill>
                <a:highlight>
                  <a:srgbClr val="EEEEEE"/>
                </a:highlight>
              </a:rPr>
              <a:t>Ref: </a:t>
            </a:r>
            <a:r>
              <a:rPr lang="pt-BR" sz="1100">
                <a:solidFill>
                  <a:srgbClr val="4A6B82"/>
                </a:solidFill>
                <a:highlight>
                  <a:srgbClr val="FFFFFF"/>
                </a:highlight>
                <a:uFill>
                  <a:noFill/>
                </a:uFill>
                <a:hlinkClick r:id="rId4">
                  <a:extLst>
                    <a:ext uri="{A12FA001-AC4F-418D-AE19-62706E023703}">
                      <ahyp:hlinkClr val="tx"/>
                    </a:ext>
                  </a:extLst>
                </a:hlinkClick>
              </a:rPr>
              <a:t>http://martinfowler.com/eaaDev/SupervisingPresenter.html</a:t>
            </a:r>
            <a:endParaRPr sz="1100">
              <a:solidFill>
                <a:schemeClr val="dk1"/>
              </a:solidFill>
              <a:highlight>
                <a:srgbClr val="EEEEEE"/>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10"/>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pt-BR"/>
              <a:t>Visão Passiva</a:t>
            </a:r>
            <a:endParaRPr/>
          </a:p>
        </p:txBody>
      </p:sp>
      <p:pic>
        <p:nvPicPr>
          <p:cNvPr id="41" name="Google Shape;41;p10"/>
          <p:cNvPicPr preferRelativeResize="0"/>
          <p:nvPr/>
        </p:nvPicPr>
        <p:blipFill>
          <a:blip r:embed="rId3">
            <a:alphaModFix/>
          </a:blip>
          <a:stretch>
            <a:fillRect/>
          </a:stretch>
        </p:blipFill>
        <p:spPr>
          <a:xfrm>
            <a:off x="604475" y="1397750"/>
            <a:ext cx="2647950" cy="3200400"/>
          </a:xfrm>
          <a:prstGeom prst="rect">
            <a:avLst/>
          </a:prstGeom>
          <a:noFill/>
          <a:ln>
            <a:noFill/>
          </a:ln>
        </p:spPr>
      </p:pic>
      <p:sp>
        <p:nvSpPr>
          <p:cNvPr id="42" name="Google Shape;42;p10"/>
          <p:cNvSpPr txBox="1"/>
          <p:nvPr/>
        </p:nvSpPr>
        <p:spPr>
          <a:xfrm>
            <a:off x="4409925" y="1970400"/>
            <a:ext cx="3906600" cy="193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100">
                <a:solidFill>
                  <a:schemeClr val="dk1"/>
                </a:solidFill>
                <a:highlight>
                  <a:srgbClr val="EEEEEE"/>
                </a:highlight>
              </a:rPr>
              <a:t>In </a:t>
            </a:r>
            <a:r>
              <a:rPr b="1" lang="pt-BR" sz="1100">
                <a:solidFill>
                  <a:schemeClr val="dk1"/>
                </a:solidFill>
                <a:highlight>
                  <a:srgbClr val="EEEEEE"/>
                </a:highlight>
              </a:rPr>
              <a:t>Passive View</a:t>
            </a:r>
            <a:r>
              <a:rPr lang="pt-BR" sz="1100">
                <a:solidFill>
                  <a:schemeClr val="dk1"/>
                </a:solidFill>
                <a:highlight>
                  <a:srgbClr val="EEEEEE"/>
                </a:highlight>
              </a:rPr>
              <a:t>, the presenter updates the view to reflect changes in the model. The interaction with the model is handled exclusively by the presenter; the view is not aware of changes in the model.</a:t>
            </a:r>
            <a:endParaRPr sz="1100">
              <a:solidFill>
                <a:schemeClr val="dk1"/>
              </a:solidFill>
              <a:highlight>
                <a:srgbClr val="EEEEEE"/>
              </a:highlight>
            </a:endParaRPr>
          </a:p>
          <a:p>
            <a:pPr indent="0" lvl="0" marL="0" rtl="0" algn="l">
              <a:spcBef>
                <a:spcPts val="0"/>
              </a:spcBef>
              <a:spcAft>
                <a:spcPts val="0"/>
              </a:spcAft>
              <a:buNone/>
            </a:pPr>
            <a:r>
              <a:t/>
            </a:r>
            <a:endParaRPr sz="1100">
              <a:solidFill>
                <a:schemeClr val="dk1"/>
              </a:solidFill>
              <a:highlight>
                <a:srgbClr val="EEEEEE"/>
              </a:highlight>
            </a:endParaRPr>
          </a:p>
          <a:p>
            <a:pPr indent="0" lvl="0" marL="0" rtl="0" algn="l">
              <a:spcBef>
                <a:spcPts val="0"/>
              </a:spcBef>
              <a:spcAft>
                <a:spcPts val="0"/>
              </a:spcAft>
              <a:buNone/>
            </a:pPr>
            <a:r>
              <a:rPr lang="pt-BR" sz="1100">
                <a:solidFill>
                  <a:schemeClr val="dk1"/>
                </a:solidFill>
                <a:highlight>
                  <a:srgbClr val="EEEEEE"/>
                </a:highlight>
              </a:rPr>
              <a:t>Ref: </a:t>
            </a:r>
            <a:r>
              <a:rPr lang="pt-BR" sz="1100">
                <a:solidFill>
                  <a:srgbClr val="4A6B82"/>
                </a:solidFill>
                <a:highlight>
                  <a:srgbClr val="FFFFFF"/>
                </a:highlight>
                <a:uFill>
                  <a:noFill/>
                </a:uFill>
                <a:hlinkClick r:id="rId4">
                  <a:extLst>
                    <a:ext uri="{A12FA001-AC4F-418D-AE19-62706E023703}">
                      <ahyp:hlinkClr val="tx"/>
                    </a:ext>
                  </a:extLst>
                </a:hlinkClick>
              </a:rPr>
              <a:t>http://martinfowler.com/eaaDev/PassiveScreen.html</a:t>
            </a:r>
            <a:endParaRPr sz="1100">
              <a:solidFill>
                <a:schemeClr val="dk1"/>
              </a:solidFill>
              <a:highlight>
                <a:srgbClr val="EEEEEE"/>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1"/>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pt-BR" sz="4800"/>
              <a:t>Visão Passiva Assíncrona</a:t>
            </a:r>
            <a:endParaRPr/>
          </a:p>
        </p:txBody>
      </p:sp>
      <p:sp>
        <p:nvSpPr>
          <p:cNvPr id="48" name="Google Shape;48;p11"/>
          <p:cNvSpPr/>
          <p:nvPr/>
        </p:nvSpPr>
        <p:spPr>
          <a:xfrm>
            <a:off x="385550" y="1458600"/>
            <a:ext cx="3138900" cy="2362800"/>
          </a:xfrm>
          <a:prstGeom prst="roundRect">
            <a:avLst>
              <a:gd fmla="val 16667" name="adj"/>
            </a:avLst>
          </a:prstGeom>
          <a:noFill/>
          <a:ln cap="flat" cmpd="sng" w="19050">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p:nvPr/>
        </p:nvSpPr>
        <p:spPr>
          <a:xfrm>
            <a:off x="556150" y="1748625"/>
            <a:ext cx="929700" cy="656700"/>
          </a:xfrm>
          <a:prstGeom prst="roundRect">
            <a:avLst>
              <a:gd fmla="val 16667" name="adj"/>
            </a:avLst>
          </a:prstGeom>
          <a:solidFill>
            <a:srgbClr val="93C47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t>View</a:t>
            </a:r>
            <a:endParaRPr/>
          </a:p>
        </p:txBody>
      </p:sp>
      <p:sp>
        <p:nvSpPr>
          <p:cNvPr id="50" name="Google Shape;50;p11"/>
          <p:cNvSpPr/>
          <p:nvPr/>
        </p:nvSpPr>
        <p:spPr>
          <a:xfrm>
            <a:off x="2252450" y="1748625"/>
            <a:ext cx="1075800" cy="656700"/>
          </a:xfrm>
          <a:prstGeom prst="roundRect">
            <a:avLst>
              <a:gd fmla="val 16667" name="adj"/>
            </a:avLst>
          </a:prstGeom>
          <a:solidFill>
            <a:srgbClr val="93C47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t>Presenter</a:t>
            </a:r>
            <a:endParaRPr/>
          </a:p>
        </p:txBody>
      </p:sp>
      <p:sp>
        <p:nvSpPr>
          <p:cNvPr id="51" name="Google Shape;51;p11"/>
          <p:cNvSpPr/>
          <p:nvPr/>
        </p:nvSpPr>
        <p:spPr>
          <a:xfrm>
            <a:off x="1364225" y="2873400"/>
            <a:ext cx="1075800" cy="656700"/>
          </a:xfrm>
          <a:prstGeom prst="roundRect">
            <a:avLst>
              <a:gd fmla="val 16667" name="adj"/>
            </a:avLst>
          </a:prstGeom>
          <a:solidFill>
            <a:srgbClr val="93C47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a:t>Model</a:t>
            </a:r>
            <a:endParaRPr/>
          </a:p>
        </p:txBody>
      </p:sp>
      <p:sp>
        <p:nvSpPr>
          <p:cNvPr id="52" name="Google Shape;52;p11"/>
          <p:cNvSpPr txBox="1"/>
          <p:nvPr/>
        </p:nvSpPr>
        <p:spPr>
          <a:xfrm>
            <a:off x="3729250" y="1322125"/>
            <a:ext cx="2089800" cy="331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000">
                <a:solidFill>
                  <a:schemeClr val="dk1"/>
                </a:solidFill>
              </a:rPr>
              <a:t>⇒ Interações com o </a:t>
            </a:r>
            <a:r>
              <a:rPr b="1" lang="pt-BR" sz="1000">
                <a:solidFill>
                  <a:schemeClr val="dk1"/>
                </a:solidFill>
              </a:rPr>
              <a:t>model</a:t>
            </a:r>
            <a:r>
              <a:rPr lang="pt-BR" sz="1000">
                <a:solidFill>
                  <a:schemeClr val="dk1"/>
                </a:solidFill>
              </a:rPr>
              <a:t> podem ser feitas na </a:t>
            </a:r>
            <a:r>
              <a:rPr b="1" lang="pt-BR" sz="1000">
                <a:solidFill>
                  <a:schemeClr val="dk1"/>
                </a:solidFill>
              </a:rPr>
              <a:t>view</a:t>
            </a:r>
            <a:r>
              <a:rPr lang="pt-BR" sz="1000">
                <a:solidFill>
                  <a:schemeClr val="dk1"/>
                </a:solidFill>
              </a:rPr>
              <a:t> e no </a:t>
            </a:r>
            <a:r>
              <a:rPr b="1" lang="pt-BR" sz="1000">
                <a:solidFill>
                  <a:schemeClr val="dk1"/>
                </a:solidFill>
              </a:rPr>
              <a:t>presenter</a:t>
            </a:r>
            <a:endParaRPr b="1"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pt-BR" sz="1000">
                <a:solidFill>
                  <a:schemeClr val="dk1"/>
                </a:solidFill>
              </a:rPr>
              <a:t>⇒ Mudanças no </a:t>
            </a:r>
            <a:r>
              <a:rPr b="1" lang="pt-BR" sz="1000">
                <a:solidFill>
                  <a:schemeClr val="dk1"/>
                </a:solidFill>
              </a:rPr>
              <a:t>model</a:t>
            </a:r>
            <a:r>
              <a:rPr lang="pt-BR" sz="1000">
                <a:solidFill>
                  <a:schemeClr val="dk1"/>
                </a:solidFill>
              </a:rPr>
              <a:t> só são efetivamente percebidas quando algum método da </a:t>
            </a:r>
            <a:r>
              <a:rPr b="1" lang="pt-BR" sz="1000">
                <a:solidFill>
                  <a:schemeClr val="dk1"/>
                </a:solidFill>
              </a:rPr>
              <a:t>view</a:t>
            </a:r>
            <a:r>
              <a:rPr lang="pt-BR" sz="1000">
                <a:solidFill>
                  <a:schemeClr val="dk1"/>
                </a:solidFill>
              </a:rPr>
              <a:t> ou do </a:t>
            </a:r>
            <a:r>
              <a:rPr b="1" lang="pt-BR" sz="1000">
                <a:solidFill>
                  <a:schemeClr val="dk1"/>
                </a:solidFill>
              </a:rPr>
              <a:t>presenter</a:t>
            </a:r>
            <a:r>
              <a:rPr lang="pt-BR" sz="1000">
                <a:solidFill>
                  <a:schemeClr val="dk1"/>
                </a:solidFill>
              </a:rPr>
              <a:t> for acionado pela parte que modificou o </a:t>
            </a:r>
            <a:r>
              <a:rPr b="1" lang="pt-BR" sz="1000">
                <a:solidFill>
                  <a:schemeClr val="dk1"/>
                </a:solidFill>
              </a:rPr>
              <a:t>model</a:t>
            </a:r>
            <a:endParaRPr b="1"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pt-BR" sz="1000">
                <a:solidFill>
                  <a:schemeClr val="dk1"/>
                </a:solidFill>
              </a:rPr>
              <a:t>⇒ O </a:t>
            </a:r>
            <a:r>
              <a:rPr b="1" lang="pt-BR" sz="1000">
                <a:solidFill>
                  <a:schemeClr val="dk1"/>
                </a:solidFill>
              </a:rPr>
              <a:t>presenter</a:t>
            </a:r>
            <a:r>
              <a:rPr lang="pt-BR" sz="1000">
                <a:solidFill>
                  <a:schemeClr val="dk1"/>
                </a:solidFill>
              </a:rPr>
              <a:t> é o responsável pelo ciclo de vida do </a:t>
            </a:r>
            <a:r>
              <a:rPr b="1" lang="pt-BR" sz="1000">
                <a:solidFill>
                  <a:schemeClr val="dk1"/>
                </a:solidFill>
              </a:rPr>
              <a:t>model</a:t>
            </a:r>
            <a:r>
              <a:rPr lang="pt-BR" sz="1000">
                <a:solidFill>
                  <a:schemeClr val="dk1"/>
                </a:solidFill>
              </a:rPr>
              <a:t> e da </a:t>
            </a:r>
            <a:r>
              <a:rPr b="1" lang="pt-BR" sz="1000">
                <a:solidFill>
                  <a:schemeClr val="dk1"/>
                </a:solidFill>
              </a:rPr>
              <a:t>view</a:t>
            </a:r>
            <a:endParaRPr b="1"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pt-BR" sz="1000">
                <a:solidFill>
                  <a:schemeClr val="dk1"/>
                </a:solidFill>
              </a:rPr>
              <a:t>⇒ A ordem da invocação dos métodos da </a:t>
            </a:r>
            <a:r>
              <a:rPr b="1" lang="pt-BR" sz="1000">
                <a:solidFill>
                  <a:schemeClr val="dk1"/>
                </a:solidFill>
              </a:rPr>
              <a:t>view</a:t>
            </a:r>
            <a:r>
              <a:rPr lang="pt-BR" sz="1000">
                <a:solidFill>
                  <a:schemeClr val="dk1"/>
                </a:solidFill>
              </a:rPr>
              <a:t> e do </a:t>
            </a:r>
            <a:r>
              <a:rPr b="1" lang="pt-BR" sz="1000">
                <a:solidFill>
                  <a:schemeClr val="dk1"/>
                </a:solidFill>
              </a:rPr>
              <a:t>presenter</a:t>
            </a:r>
            <a:r>
              <a:rPr lang="pt-BR" sz="1000">
                <a:solidFill>
                  <a:schemeClr val="dk1"/>
                </a:solidFill>
              </a:rPr>
              <a:t> são preservadas, mas não interrompem a execução (invocação assíncrona)</a:t>
            </a:r>
            <a:endParaRPr sz="1000">
              <a:solidFill>
                <a:schemeClr val="dk1"/>
              </a:solidFill>
            </a:endParaRPr>
          </a:p>
        </p:txBody>
      </p:sp>
      <p:cxnSp>
        <p:nvCxnSpPr>
          <p:cNvPr id="53" name="Google Shape;53;p11"/>
          <p:cNvCxnSpPr/>
          <p:nvPr/>
        </p:nvCxnSpPr>
        <p:spPr>
          <a:xfrm>
            <a:off x="1475606" y="2241100"/>
            <a:ext cx="784800" cy="0"/>
          </a:xfrm>
          <a:prstGeom prst="straightConnector1">
            <a:avLst/>
          </a:prstGeom>
          <a:noFill/>
          <a:ln cap="flat" cmpd="sng" w="19050">
            <a:solidFill>
              <a:schemeClr val="dk2"/>
            </a:solidFill>
            <a:prstDash val="solid"/>
            <a:round/>
            <a:headEnd len="med" w="med" type="triangle"/>
            <a:tailEnd len="med" w="med" type="none"/>
          </a:ln>
        </p:spPr>
      </p:cxnSp>
      <p:cxnSp>
        <p:nvCxnSpPr>
          <p:cNvPr id="54" name="Google Shape;54;p11"/>
          <p:cNvCxnSpPr/>
          <p:nvPr/>
        </p:nvCxnSpPr>
        <p:spPr>
          <a:xfrm>
            <a:off x="1622375" y="1927920"/>
            <a:ext cx="646500" cy="0"/>
          </a:xfrm>
          <a:prstGeom prst="straightConnector1">
            <a:avLst/>
          </a:prstGeom>
          <a:noFill/>
          <a:ln cap="flat" cmpd="sng" w="19050">
            <a:solidFill>
              <a:schemeClr val="dk2"/>
            </a:solidFill>
            <a:prstDash val="solid"/>
            <a:round/>
            <a:headEnd len="med" w="med" type="none"/>
            <a:tailEnd len="med" w="med" type="triangle"/>
          </a:ln>
        </p:spPr>
      </p:cxnSp>
      <p:cxnSp>
        <p:nvCxnSpPr>
          <p:cNvPr id="55" name="Google Shape;55;p11"/>
          <p:cNvCxnSpPr/>
          <p:nvPr/>
        </p:nvCxnSpPr>
        <p:spPr>
          <a:xfrm rot="10800000">
            <a:off x="1485850" y="1932100"/>
            <a:ext cx="174900" cy="0"/>
          </a:xfrm>
          <a:prstGeom prst="straightConnector1">
            <a:avLst/>
          </a:prstGeom>
          <a:noFill/>
          <a:ln cap="flat" cmpd="sng" w="19050">
            <a:solidFill>
              <a:schemeClr val="dk2"/>
            </a:solidFill>
            <a:prstDash val="solid"/>
            <a:round/>
            <a:headEnd len="med" w="med" type="oval"/>
            <a:tailEnd len="med" w="med" type="none"/>
          </a:ln>
        </p:spPr>
      </p:cxnSp>
      <p:cxnSp>
        <p:nvCxnSpPr>
          <p:cNvPr id="56" name="Google Shape;56;p11"/>
          <p:cNvCxnSpPr/>
          <p:nvPr/>
        </p:nvCxnSpPr>
        <p:spPr>
          <a:xfrm flipH="1" rot="10800000">
            <a:off x="2390075" y="2405200"/>
            <a:ext cx="261600" cy="477900"/>
          </a:xfrm>
          <a:prstGeom prst="straightConnector1">
            <a:avLst/>
          </a:prstGeom>
          <a:noFill/>
          <a:ln cap="flat" cmpd="sng" w="19050">
            <a:solidFill>
              <a:schemeClr val="dk2"/>
            </a:solidFill>
            <a:prstDash val="solid"/>
            <a:round/>
            <a:headEnd len="med" w="med" type="triangle"/>
            <a:tailEnd len="med" w="med" type="none"/>
          </a:ln>
        </p:spPr>
      </p:cxnSp>
      <p:cxnSp>
        <p:nvCxnSpPr>
          <p:cNvPr id="57" name="Google Shape;57;p11"/>
          <p:cNvCxnSpPr>
            <a:endCxn id="49" idx="2"/>
          </p:cNvCxnSpPr>
          <p:nvPr/>
        </p:nvCxnSpPr>
        <p:spPr>
          <a:xfrm rot="10800000">
            <a:off x="1021000" y="2405325"/>
            <a:ext cx="123600" cy="119400"/>
          </a:xfrm>
          <a:prstGeom prst="straightConnector1">
            <a:avLst/>
          </a:prstGeom>
          <a:noFill/>
          <a:ln cap="flat" cmpd="sng" w="19050">
            <a:solidFill>
              <a:schemeClr val="dk2"/>
            </a:solidFill>
            <a:prstDash val="solid"/>
            <a:round/>
            <a:headEnd len="med" w="med" type="oval"/>
            <a:tailEnd len="med" w="med" type="none"/>
          </a:ln>
        </p:spPr>
      </p:cxnSp>
      <p:cxnSp>
        <p:nvCxnSpPr>
          <p:cNvPr id="58" name="Google Shape;58;p11"/>
          <p:cNvCxnSpPr/>
          <p:nvPr/>
        </p:nvCxnSpPr>
        <p:spPr>
          <a:xfrm>
            <a:off x="1136175" y="2533375"/>
            <a:ext cx="273000" cy="349800"/>
          </a:xfrm>
          <a:prstGeom prst="straightConnector1">
            <a:avLst/>
          </a:prstGeom>
          <a:noFill/>
          <a:ln cap="flat" cmpd="sng" w="19050">
            <a:solidFill>
              <a:schemeClr val="dk2"/>
            </a:solidFill>
            <a:prstDash val="solid"/>
            <a:round/>
            <a:headEnd len="med" w="med" type="none"/>
            <a:tailEnd len="med" w="med" type="triangle"/>
          </a:ln>
        </p:spPr>
      </p:cxnSp>
      <p:sp>
        <p:nvSpPr>
          <p:cNvPr id="59" name="Google Shape;59;p11"/>
          <p:cNvSpPr/>
          <p:nvPr/>
        </p:nvSpPr>
        <p:spPr>
          <a:xfrm>
            <a:off x="6023850" y="1322125"/>
            <a:ext cx="520200" cy="349800"/>
          </a:xfrm>
          <a:prstGeom prst="roundRect">
            <a:avLst>
              <a:gd fmla="val 16667" name="adj"/>
            </a:avLst>
          </a:prstGeom>
          <a:solidFill>
            <a:srgbClr val="93C47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1000"/>
              <a:t>View</a:t>
            </a:r>
            <a:endParaRPr sz="1000"/>
          </a:p>
        </p:txBody>
      </p:sp>
      <p:sp>
        <p:nvSpPr>
          <p:cNvPr id="60" name="Google Shape;60;p11"/>
          <p:cNvSpPr/>
          <p:nvPr/>
        </p:nvSpPr>
        <p:spPr>
          <a:xfrm>
            <a:off x="8069675" y="1322125"/>
            <a:ext cx="784800" cy="349800"/>
          </a:xfrm>
          <a:prstGeom prst="roundRect">
            <a:avLst>
              <a:gd fmla="val 16667" name="adj"/>
            </a:avLst>
          </a:prstGeom>
          <a:solidFill>
            <a:srgbClr val="93C47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t-BR" sz="1000"/>
              <a:t>Presenter</a:t>
            </a:r>
            <a:endParaRPr sz="1000"/>
          </a:p>
        </p:txBody>
      </p:sp>
      <p:cxnSp>
        <p:nvCxnSpPr>
          <p:cNvPr id="61" name="Google Shape;61;p11"/>
          <p:cNvCxnSpPr>
            <a:stCxn id="59" idx="2"/>
          </p:cNvCxnSpPr>
          <p:nvPr/>
        </p:nvCxnSpPr>
        <p:spPr>
          <a:xfrm>
            <a:off x="6283950" y="1671925"/>
            <a:ext cx="0" cy="3104700"/>
          </a:xfrm>
          <a:prstGeom prst="straightConnector1">
            <a:avLst/>
          </a:prstGeom>
          <a:noFill/>
          <a:ln cap="flat" cmpd="sng" w="19050">
            <a:solidFill>
              <a:schemeClr val="dk2"/>
            </a:solidFill>
            <a:prstDash val="solid"/>
            <a:round/>
            <a:headEnd len="med" w="med" type="none"/>
            <a:tailEnd len="med" w="med" type="none"/>
          </a:ln>
        </p:spPr>
      </p:cxnSp>
      <p:cxnSp>
        <p:nvCxnSpPr>
          <p:cNvPr id="62" name="Google Shape;62;p11"/>
          <p:cNvCxnSpPr/>
          <p:nvPr/>
        </p:nvCxnSpPr>
        <p:spPr>
          <a:xfrm>
            <a:off x="8417550" y="1671925"/>
            <a:ext cx="0" cy="3104700"/>
          </a:xfrm>
          <a:prstGeom prst="straightConnector1">
            <a:avLst/>
          </a:prstGeom>
          <a:noFill/>
          <a:ln cap="flat" cmpd="sng" w="19050">
            <a:solidFill>
              <a:schemeClr val="dk2"/>
            </a:solidFill>
            <a:prstDash val="solid"/>
            <a:round/>
            <a:headEnd len="med" w="med" type="none"/>
            <a:tailEnd len="med" w="med" type="none"/>
          </a:ln>
        </p:spPr>
      </p:cxnSp>
      <p:cxnSp>
        <p:nvCxnSpPr>
          <p:cNvPr id="63" name="Google Shape;63;p11"/>
          <p:cNvCxnSpPr/>
          <p:nvPr/>
        </p:nvCxnSpPr>
        <p:spPr>
          <a:xfrm flipH="1" rot="10800000">
            <a:off x="6296725" y="1902025"/>
            <a:ext cx="2141100" cy="247500"/>
          </a:xfrm>
          <a:prstGeom prst="straightConnector1">
            <a:avLst/>
          </a:prstGeom>
          <a:noFill/>
          <a:ln cap="flat" cmpd="sng" w="9525">
            <a:solidFill>
              <a:schemeClr val="dk2"/>
            </a:solidFill>
            <a:prstDash val="solid"/>
            <a:round/>
            <a:headEnd len="med" w="med" type="triangle"/>
            <a:tailEnd len="med" w="med" type="none"/>
          </a:ln>
        </p:spPr>
      </p:cxnSp>
      <p:sp>
        <p:nvSpPr>
          <p:cNvPr id="64" name="Google Shape;64;p11"/>
          <p:cNvSpPr txBox="1"/>
          <p:nvPr/>
        </p:nvSpPr>
        <p:spPr>
          <a:xfrm>
            <a:off x="6774200" y="1707925"/>
            <a:ext cx="1221000" cy="3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000"/>
              <a:t>create(presenter)</a:t>
            </a:r>
            <a:endParaRPr sz="1000"/>
          </a:p>
        </p:txBody>
      </p:sp>
      <p:sp>
        <p:nvSpPr>
          <p:cNvPr id="65" name="Google Shape;65;p11"/>
          <p:cNvSpPr txBox="1"/>
          <p:nvPr/>
        </p:nvSpPr>
        <p:spPr>
          <a:xfrm>
            <a:off x="6926600" y="2088925"/>
            <a:ext cx="717900" cy="3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000"/>
              <a:t>setModel</a:t>
            </a:r>
            <a:endParaRPr sz="1000"/>
          </a:p>
        </p:txBody>
      </p:sp>
      <p:cxnSp>
        <p:nvCxnSpPr>
          <p:cNvPr id="66" name="Google Shape;66;p11"/>
          <p:cNvCxnSpPr/>
          <p:nvPr/>
        </p:nvCxnSpPr>
        <p:spPr>
          <a:xfrm flipH="1" rot="10800000">
            <a:off x="6296725" y="2206825"/>
            <a:ext cx="2141100" cy="247500"/>
          </a:xfrm>
          <a:prstGeom prst="straightConnector1">
            <a:avLst/>
          </a:prstGeom>
          <a:noFill/>
          <a:ln cap="flat" cmpd="sng" w="9525">
            <a:solidFill>
              <a:schemeClr val="dk2"/>
            </a:solidFill>
            <a:prstDash val="solid"/>
            <a:round/>
            <a:headEnd len="med" w="med" type="triangle"/>
            <a:tailEnd len="med" w="med" type="none"/>
          </a:ln>
        </p:spPr>
      </p:cxnSp>
      <p:sp>
        <p:nvSpPr>
          <p:cNvPr id="67" name="Google Shape;67;p11"/>
          <p:cNvSpPr txBox="1"/>
          <p:nvPr/>
        </p:nvSpPr>
        <p:spPr>
          <a:xfrm>
            <a:off x="6926600" y="2469925"/>
            <a:ext cx="555900" cy="3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000"/>
              <a:t>render</a:t>
            </a:r>
            <a:endParaRPr sz="1000"/>
          </a:p>
        </p:txBody>
      </p:sp>
      <p:cxnSp>
        <p:nvCxnSpPr>
          <p:cNvPr id="68" name="Google Shape;68;p11"/>
          <p:cNvCxnSpPr/>
          <p:nvPr/>
        </p:nvCxnSpPr>
        <p:spPr>
          <a:xfrm flipH="1" rot="10800000">
            <a:off x="6296725" y="2587825"/>
            <a:ext cx="2141100" cy="247500"/>
          </a:xfrm>
          <a:prstGeom prst="straightConnector1">
            <a:avLst/>
          </a:prstGeom>
          <a:noFill/>
          <a:ln cap="flat" cmpd="sng" w="9525">
            <a:solidFill>
              <a:schemeClr val="dk2"/>
            </a:solidFill>
            <a:prstDash val="solid"/>
            <a:round/>
            <a:headEnd len="med" w="med" type="triangle"/>
            <a:tailEnd len="med" w="med" type="none"/>
          </a:ln>
        </p:spPr>
      </p:cxnSp>
      <p:cxnSp>
        <p:nvCxnSpPr>
          <p:cNvPr id="69" name="Google Shape;69;p11"/>
          <p:cNvCxnSpPr/>
          <p:nvPr/>
        </p:nvCxnSpPr>
        <p:spPr>
          <a:xfrm>
            <a:off x="6279675" y="3036625"/>
            <a:ext cx="2149500" cy="230400"/>
          </a:xfrm>
          <a:prstGeom prst="straightConnector1">
            <a:avLst/>
          </a:prstGeom>
          <a:noFill/>
          <a:ln cap="flat" cmpd="sng" w="9525">
            <a:solidFill>
              <a:schemeClr val="dk2"/>
            </a:solidFill>
            <a:prstDash val="solid"/>
            <a:round/>
            <a:headEnd len="med" w="med" type="none"/>
            <a:tailEnd len="med" w="med" type="triangle"/>
          </a:ln>
        </p:spPr>
      </p:cxnSp>
      <p:sp>
        <p:nvSpPr>
          <p:cNvPr id="70" name="Google Shape;70;p11"/>
          <p:cNvSpPr txBox="1"/>
          <p:nvPr/>
        </p:nvSpPr>
        <p:spPr>
          <a:xfrm>
            <a:off x="7079000" y="2876514"/>
            <a:ext cx="555900" cy="3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000"/>
              <a:t>cancel</a:t>
            </a:r>
            <a:endParaRPr sz="1000"/>
          </a:p>
        </p:txBody>
      </p:sp>
      <p:sp>
        <p:nvSpPr>
          <p:cNvPr id="71" name="Google Shape;71;p11"/>
          <p:cNvSpPr txBox="1"/>
          <p:nvPr/>
        </p:nvSpPr>
        <p:spPr>
          <a:xfrm>
            <a:off x="6442875" y="3308125"/>
            <a:ext cx="2046900" cy="3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800"/>
              <a:t>askDoYouWannaCancel(yesNoAction)</a:t>
            </a:r>
            <a:endParaRPr sz="800"/>
          </a:p>
        </p:txBody>
      </p:sp>
      <p:cxnSp>
        <p:nvCxnSpPr>
          <p:cNvPr id="72" name="Google Shape;72;p11"/>
          <p:cNvCxnSpPr/>
          <p:nvPr/>
        </p:nvCxnSpPr>
        <p:spPr>
          <a:xfrm flipH="1" rot="10800000">
            <a:off x="6296725" y="3502225"/>
            <a:ext cx="2141100" cy="247500"/>
          </a:xfrm>
          <a:prstGeom prst="straightConnector1">
            <a:avLst/>
          </a:prstGeom>
          <a:noFill/>
          <a:ln cap="flat" cmpd="sng" w="9525">
            <a:solidFill>
              <a:schemeClr val="dk2"/>
            </a:solidFill>
            <a:prstDash val="solid"/>
            <a:round/>
            <a:headEnd len="med" w="med" type="triangle"/>
            <a:tailEnd len="med" w="med" type="none"/>
          </a:ln>
        </p:spPr>
      </p:cxnSp>
      <p:sp>
        <p:nvSpPr>
          <p:cNvPr id="73" name="Google Shape;73;p11"/>
          <p:cNvSpPr txBox="1"/>
          <p:nvPr/>
        </p:nvSpPr>
        <p:spPr>
          <a:xfrm>
            <a:off x="7079000" y="3790914"/>
            <a:ext cx="555900" cy="3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000"/>
              <a:t>yes</a:t>
            </a:r>
            <a:endParaRPr sz="1000"/>
          </a:p>
        </p:txBody>
      </p:sp>
      <p:cxnSp>
        <p:nvCxnSpPr>
          <p:cNvPr id="74" name="Google Shape;74;p11"/>
          <p:cNvCxnSpPr/>
          <p:nvPr/>
        </p:nvCxnSpPr>
        <p:spPr>
          <a:xfrm>
            <a:off x="6279675" y="3951025"/>
            <a:ext cx="2149500" cy="230400"/>
          </a:xfrm>
          <a:prstGeom prst="straightConnector1">
            <a:avLst/>
          </a:prstGeom>
          <a:noFill/>
          <a:ln cap="flat" cmpd="sng" w="9525">
            <a:solidFill>
              <a:schemeClr val="dk2"/>
            </a:solidFill>
            <a:prstDash val="solid"/>
            <a:round/>
            <a:headEnd len="med" w="med" type="none"/>
            <a:tailEnd len="med" w="med" type="triangle"/>
          </a:ln>
        </p:spPr>
      </p:cxnSp>
      <p:sp>
        <p:nvSpPr>
          <p:cNvPr id="75" name="Google Shape;75;p11"/>
          <p:cNvSpPr txBox="1"/>
          <p:nvPr/>
        </p:nvSpPr>
        <p:spPr>
          <a:xfrm>
            <a:off x="312275" y="4632900"/>
            <a:ext cx="55068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000" u="sng">
                <a:solidFill>
                  <a:schemeClr val="hlink"/>
                </a:solidFill>
                <a:hlinkClick r:id="rId3"/>
              </a:rPr>
              <a:t>https://drive.google.com/?tab=mo&amp;authuser=0#folders/0B_hbVwmxzLU7UjlpUHVIRHZrV0U</a:t>
            </a:r>
            <a:endParaRPr sz="1000"/>
          </a:p>
          <a:p>
            <a:pPr indent="0" lvl="0" marL="0" rtl="0" algn="l">
              <a:spcBef>
                <a:spcPts val="0"/>
              </a:spcBef>
              <a:spcAft>
                <a:spcPts val="0"/>
              </a:spcAft>
              <a:buNone/>
            </a:pPr>
            <a:r>
              <a:t/>
            </a:r>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2"/>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pt-BR"/>
              <a:t>Rotas Hierárquicas</a:t>
            </a:r>
            <a:endParaRPr/>
          </a:p>
        </p:txBody>
      </p:sp>
      <p:sp>
        <p:nvSpPr>
          <p:cNvPr id="81" name="Google Shape;81;p12"/>
          <p:cNvSpPr txBox="1"/>
          <p:nvPr/>
        </p:nvSpPr>
        <p:spPr>
          <a:xfrm>
            <a:off x="597025" y="4693450"/>
            <a:ext cx="53181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a:t>Semelhante a UI Router: </a:t>
            </a:r>
            <a:r>
              <a:rPr lang="pt-BR" u="sng">
                <a:solidFill>
                  <a:schemeClr val="hlink"/>
                </a:solidFill>
                <a:hlinkClick r:id="rId3"/>
              </a:rPr>
              <a:t>https://github.com/angular-ui/ui-router</a:t>
            </a:r>
            <a:r>
              <a:rPr lang="pt-BR"/>
              <a:t> </a:t>
            </a:r>
            <a:endParaRPr/>
          </a:p>
        </p:txBody>
      </p:sp>
      <p:pic>
        <p:nvPicPr>
          <p:cNvPr id="82" name="Google Shape;82;p12"/>
          <p:cNvPicPr preferRelativeResize="0"/>
          <p:nvPr/>
        </p:nvPicPr>
        <p:blipFill>
          <a:blip r:embed="rId4">
            <a:alphaModFix/>
          </a:blip>
          <a:stretch>
            <a:fillRect/>
          </a:stretch>
        </p:blipFill>
        <p:spPr>
          <a:xfrm>
            <a:off x="392900" y="1557650"/>
            <a:ext cx="4783650" cy="2391825"/>
          </a:xfrm>
          <a:prstGeom prst="rect">
            <a:avLst/>
          </a:prstGeom>
          <a:noFill/>
          <a:ln>
            <a:noFill/>
          </a:ln>
        </p:spPr>
      </p:pic>
      <p:sp>
        <p:nvSpPr>
          <p:cNvPr id="83" name="Google Shape;83;p12"/>
          <p:cNvSpPr txBox="1"/>
          <p:nvPr/>
        </p:nvSpPr>
        <p:spPr>
          <a:xfrm>
            <a:off x="5804800" y="973750"/>
            <a:ext cx="3067800" cy="371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t-BR" sz="1000">
                <a:solidFill>
                  <a:schemeClr val="dk1"/>
                </a:solidFill>
              </a:rPr>
              <a:t>⇒ Cada nodo cuida de um </a:t>
            </a:r>
            <a:r>
              <a:rPr b="1" lang="pt-BR" sz="1000">
                <a:solidFill>
                  <a:schemeClr val="dk1"/>
                </a:solidFill>
              </a:rPr>
              <a:t>presenter</a:t>
            </a:r>
            <a:r>
              <a:rPr lang="pt-BR" sz="1000">
                <a:solidFill>
                  <a:schemeClr val="dk1"/>
                </a:solidFill>
              </a:rPr>
              <a:t>.</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pt-BR" sz="1000">
                <a:solidFill>
                  <a:schemeClr val="dk1"/>
                </a:solidFill>
              </a:rPr>
              <a:t>⇒ Nodos do nível superior podem acessar a qualquer nodo anterior que esteja no mesmo caminho</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pt-BR" sz="1000">
                <a:solidFill>
                  <a:schemeClr val="dk1"/>
                </a:solidFill>
              </a:rPr>
              <a:t>⇒ A composição da visão ocorre por pontos definidos na interface das visões, podendo existir quantos forem necessários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pt-BR" sz="1000">
                <a:solidFill>
                  <a:schemeClr val="dk1"/>
                </a:solidFill>
              </a:rPr>
              <a:t>⇒ Toda a mudança de rota implica num percorrimento bottom-up completo</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pt-BR" sz="1000">
                <a:solidFill>
                  <a:schemeClr val="dk1"/>
                </a:solidFill>
              </a:rPr>
              <a:t>⇒ Os nodos de caminhos anteriores que não fazem parte do novo caminho, são invocados para liberarem os recursos na ordem inversa em que foram chamados para alocar os recursos</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pt-BR" sz="1000">
                <a:solidFill>
                  <a:schemeClr val="dk1"/>
                </a:solidFill>
              </a:rPr>
              <a:t>⇒ Pre-fetch de rota para identificar os dados necessários antes do percorrimento efetivo</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pt-BR" sz="1000">
                <a:solidFill>
                  <a:schemeClr val="dk1"/>
                </a:solidFill>
              </a:rPr>
              <a:t>⇒ Serialização/Desserialização de identificadores de estado por nodo da rota</a:t>
            </a:r>
            <a:endParaRPr sz="10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